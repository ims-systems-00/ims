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1" r:id="rId2"/>
    <p:sldId id="257" r:id="rId3"/>
    <p:sldId id="259" r:id="rId4"/>
    <p:sldId id="258" r:id="rId5"/>
    <p:sldId id="262" r:id="rId6"/>
    <p:sldId id="260" r:id="rId7"/>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0" d="100"/>
          <a:sy n="100" d="100"/>
        </p:scale>
        <p:origin x="1694" y="-19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995312"/>
            <a:ext cx="5829300" cy="4244622"/>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6403623"/>
            <a:ext cx="5143500" cy="294357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F6226C-9989-4C48-BED7-7922C813DDFF}" type="datetimeFigureOut">
              <a:rPr lang="en-GB" smtClean="0"/>
              <a:t>07/01/2024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B86674-8C10-40F3-89B2-B85445B9F2E9}" type="slidenum">
              <a:rPr lang="en-GB" smtClean="0"/>
              <a:t>‹#›</a:t>
            </a:fld>
            <a:endParaRPr lang="en-GB"/>
          </a:p>
        </p:txBody>
      </p:sp>
    </p:spTree>
    <p:extLst>
      <p:ext uri="{BB962C8B-B14F-4D97-AF65-F5344CB8AC3E}">
        <p14:creationId xmlns:p14="http://schemas.microsoft.com/office/powerpoint/2010/main" val="663627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F6226C-9989-4C48-BED7-7922C813DDFF}" type="datetimeFigureOut">
              <a:rPr lang="en-GB" smtClean="0"/>
              <a:t>07/01/2024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B86674-8C10-40F3-89B2-B85445B9F2E9}" type="slidenum">
              <a:rPr lang="en-GB" smtClean="0"/>
              <a:t>‹#›</a:t>
            </a:fld>
            <a:endParaRPr lang="en-GB"/>
          </a:p>
        </p:txBody>
      </p:sp>
    </p:spTree>
    <p:extLst>
      <p:ext uri="{BB962C8B-B14F-4D97-AF65-F5344CB8AC3E}">
        <p14:creationId xmlns:p14="http://schemas.microsoft.com/office/powerpoint/2010/main" val="1582929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3039537"/>
            <a:ext cx="5915025" cy="5071532"/>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8159048"/>
            <a:ext cx="5915025" cy="266699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F6226C-9989-4C48-BED7-7922C813DDFF}" type="datetimeFigureOut">
              <a:rPr lang="en-GB" smtClean="0"/>
              <a:t>07/01/2024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B86674-8C10-40F3-89B2-B85445B9F2E9}" type="slidenum">
              <a:rPr lang="en-GB" smtClean="0"/>
              <a:t>‹#›</a:t>
            </a:fld>
            <a:endParaRPr lang="en-GB"/>
          </a:p>
        </p:txBody>
      </p:sp>
    </p:spTree>
    <p:extLst>
      <p:ext uri="{BB962C8B-B14F-4D97-AF65-F5344CB8AC3E}">
        <p14:creationId xmlns:p14="http://schemas.microsoft.com/office/powerpoint/2010/main" val="684457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F6226C-9989-4C48-BED7-7922C813DDFF}" type="datetimeFigureOut">
              <a:rPr lang="en-GB" smtClean="0"/>
              <a:t>07/01/2024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FB86674-8C10-40F3-89B2-B85445B9F2E9}" type="slidenum">
              <a:rPr lang="en-GB" smtClean="0"/>
              <a:t>‹#›</a:t>
            </a:fld>
            <a:endParaRPr lang="en-GB"/>
          </a:p>
        </p:txBody>
      </p:sp>
    </p:spTree>
    <p:extLst>
      <p:ext uri="{BB962C8B-B14F-4D97-AF65-F5344CB8AC3E}">
        <p14:creationId xmlns:p14="http://schemas.microsoft.com/office/powerpoint/2010/main" val="2195515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4453467"/>
            <a:ext cx="2901255"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4453467"/>
            <a:ext cx="2915543"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F6226C-9989-4C48-BED7-7922C813DDFF}" type="datetimeFigureOut">
              <a:rPr lang="en-GB" smtClean="0"/>
              <a:t>07/01/2024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FB86674-8C10-40F3-89B2-B85445B9F2E9}" type="slidenum">
              <a:rPr lang="en-GB" smtClean="0"/>
              <a:t>‹#›</a:t>
            </a:fld>
            <a:endParaRPr lang="en-GB"/>
          </a:p>
        </p:txBody>
      </p:sp>
    </p:spTree>
    <p:extLst>
      <p:ext uri="{BB962C8B-B14F-4D97-AF65-F5344CB8AC3E}">
        <p14:creationId xmlns:p14="http://schemas.microsoft.com/office/powerpoint/2010/main" val="1489429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F6226C-9989-4C48-BED7-7922C813DDFF}" type="datetimeFigureOut">
              <a:rPr lang="en-GB" smtClean="0"/>
              <a:t>07/01/2024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FB86674-8C10-40F3-89B2-B85445B9F2E9}" type="slidenum">
              <a:rPr lang="en-GB" smtClean="0"/>
              <a:t>‹#›</a:t>
            </a:fld>
            <a:endParaRPr lang="en-GB"/>
          </a:p>
        </p:txBody>
      </p:sp>
    </p:spTree>
    <p:extLst>
      <p:ext uri="{BB962C8B-B14F-4D97-AF65-F5344CB8AC3E}">
        <p14:creationId xmlns:p14="http://schemas.microsoft.com/office/powerpoint/2010/main" val="3991878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F6226C-9989-4C48-BED7-7922C813DDFF}" type="datetimeFigureOut">
              <a:rPr lang="en-GB" smtClean="0"/>
              <a:t>07/01/2024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FB86674-8C10-40F3-89B2-B85445B9F2E9}" type="slidenum">
              <a:rPr lang="en-GB" smtClean="0"/>
              <a:t>‹#›</a:t>
            </a:fld>
            <a:endParaRPr lang="en-GB"/>
          </a:p>
        </p:txBody>
      </p:sp>
    </p:spTree>
    <p:extLst>
      <p:ext uri="{BB962C8B-B14F-4D97-AF65-F5344CB8AC3E}">
        <p14:creationId xmlns:p14="http://schemas.microsoft.com/office/powerpoint/2010/main" val="3997236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4F6226C-9989-4C48-BED7-7922C813DDFF}" type="datetimeFigureOut">
              <a:rPr lang="en-GB" smtClean="0"/>
              <a:t>07/01/2024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FB86674-8C10-40F3-89B2-B85445B9F2E9}" type="slidenum">
              <a:rPr lang="en-GB" smtClean="0"/>
              <a:t>‹#›</a:t>
            </a:fld>
            <a:endParaRPr lang="en-GB"/>
          </a:p>
        </p:txBody>
      </p:sp>
    </p:spTree>
    <p:extLst>
      <p:ext uri="{BB962C8B-B14F-4D97-AF65-F5344CB8AC3E}">
        <p14:creationId xmlns:p14="http://schemas.microsoft.com/office/powerpoint/2010/main" val="1286999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4F6226C-9989-4C48-BED7-7922C813DDFF}" type="datetimeFigureOut">
              <a:rPr lang="en-GB" smtClean="0"/>
              <a:t>07/01/2024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FB86674-8C10-40F3-89B2-B85445B9F2E9}" type="slidenum">
              <a:rPr lang="en-GB" smtClean="0"/>
              <a:t>‹#›</a:t>
            </a:fld>
            <a:endParaRPr lang="en-GB"/>
          </a:p>
        </p:txBody>
      </p:sp>
    </p:spTree>
    <p:extLst>
      <p:ext uri="{BB962C8B-B14F-4D97-AF65-F5344CB8AC3E}">
        <p14:creationId xmlns:p14="http://schemas.microsoft.com/office/powerpoint/2010/main" val="242372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F6226C-9989-4C48-BED7-7922C813DDFF}" type="datetimeFigureOut">
              <a:rPr lang="en-GB" smtClean="0"/>
              <a:t>07/01/2024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B86674-8C10-40F3-89B2-B85445B9F2E9}" type="slidenum">
              <a:rPr lang="en-GB" smtClean="0"/>
              <a:t>‹#›</a:t>
            </a:fld>
            <a:endParaRPr lang="en-GB"/>
          </a:p>
        </p:txBody>
      </p:sp>
    </p:spTree>
    <p:extLst>
      <p:ext uri="{BB962C8B-B14F-4D97-AF65-F5344CB8AC3E}">
        <p14:creationId xmlns:p14="http://schemas.microsoft.com/office/powerpoint/2010/main" val="2102478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649111"/>
            <a:ext cx="4350544" cy="103321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F6226C-9989-4C48-BED7-7922C813DDFF}" type="datetimeFigureOut">
              <a:rPr lang="en-GB" smtClean="0"/>
              <a:t>07/01/2024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B86674-8C10-40F3-89B2-B85445B9F2E9}" type="slidenum">
              <a:rPr lang="en-GB" smtClean="0"/>
              <a:t>‹#›</a:t>
            </a:fld>
            <a:endParaRPr lang="en-GB"/>
          </a:p>
        </p:txBody>
      </p:sp>
    </p:spTree>
    <p:extLst>
      <p:ext uri="{BB962C8B-B14F-4D97-AF65-F5344CB8AC3E}">
        <p14:creationId xmlns:p14="http://schemas.microsoft.com/office/powerpoint/2010/main" val="1672034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75000"/>
                  </a:schemeClr>
                </a:solidFill>
              </a:defRPr>
            </a:lvl1pPr>
          </a:lstStyle>
          <a:p>
            <a:fld id="{24F6226C-9989-4C48-BED7-7922C813DDFF}" type="datetimeFigureOut">
              <a:rPr lang="en-GB" smtClean="0"/>
              <a:t>07/01/2024</a:t>
            </a:fld>
            <a:endParaRPr lang="en-GB"/>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75000"/>
                  </a:schemeClr>
                </a:solidFill>
              </a:defRPr>
            </a:lvl1pPr>
          </a:lstStyle>
          <a:p>
            <a:fld id="{7FB86674-8C10-40F3-89B2-B85445B9F2E9}" type="slidenum">
              <a:rPr lang="en-GB" smtClean="0"/>
              <a:t>‹#›</a:t>
            </a:fld>
            <a:endParaRPr lang="en-GB"/>
          </a:p>
        </p:txBody>
      </p:sp>
    </p:spTree>
    <p:extLst>
      <p:ext uri="{BB962C8B-B14F-4D97-AF65-F5344CB8AC3E}">
        <p14:creationId xmlns:p14="http://schemas.microsoft.com/office/powerpoint/2010/main" val="27331213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857" y="0"/>
            <a:ext cx="6856285" cy="1219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descr="A blue and black background&#10;&#10;Description automatically generated">
            <a:extLst>
              <a:ext uri="{FF2B5EF4-FFF2-40B4-BE49-F238E27FC236}">
                <a16:creationId xmlns:a16="http://schemas.microsoft.com/office/drawing/2014/main" id="{669D461B-A7E1-7763-3548-9DB6F2D920E4}"/>
              </a:ext>
            </a:extLst>
          </p:cNvPr>
          <p:cNvPicPr>
            <a:picLocks noChangeAspect="1"/>
          </p:cNvPicPr>
          <p:nvPr/>
        </p:nvPicPr>
        <p:blipFill rotWithShape="1">
          <a:blip r:embed="rId2">
            <a:extLst>
              <a:ext uri="{28A0092B-C50C-407E-A947-70E740481C1C}">
                <a14:useLocalDpi xmlns:a14="http://schemas.microsoft.com/office/drawing/2010/main" val="0"/>
              </a:ext>
            </a:extLst>
          </a:blip>
          <a:srcRect l="48006" r="26537" b="1"/>
          <a:stretch/>
        </p:blipFill>
        <p:spPr>
          <a:xfrm>
            <a:off x="20" y="2279"/>
            <a:ext cx="6857980" cy="12189721"/>
          </a:xfrm>
          <a:prstGeom prst="rect">
            <a:avLst/>
          </a:prstGeom>
        </p:spPr>
      </p:pic>
      <p:pic>
        <p:nvPicPr>
          <p:cNvPr id="7" name="Picture 6" descr="A white letter on a black background&#10;&#10;Description automatically generated">
            <a:extLst>
              <a:ext uri="{FF2B5EF4-FFF2-40B4-BE49-F238E27FC236}">
                <a16:creationId xmlns:a16="http://schemas.microsoft.com/office/drawing/2014/main" id="{1A16628C-2B1D-5B06-2720-A2B22085D5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5847" y="4892040"/>
            <a:ext cx="1766305" cy="323794"/>
          </a:xfrm>
          <a:prstGeom prst="rect">
            <a:avLst/>
          </a:prstGeom>
        </p:spPr>
      </p:pic>
      <p:sp>
        <p:nvSpPr>
          <p:cNvPr id="8" name="Title 1">
            <a:extLst>
              <a:ext uri="{FF2B5EF4-FFF2-40B4-BE49-F238E27FC236}">
                <a16:creationId xmlns:a16="http://schemas.microsoft.com/office/drawing/2014/main" id="{88A81136-F239-B679-9F1D-9E95BC084DD9}"/>
              </a:ext>
            </a:extLst>
          </p:cNvPr>
          <p:cNvSpPr txBox="1">
            <a:spLocks/>
          </p:cNvSpPr>
          <p:nvPr/>
        </p:nvSpPr>
        <p:spPr>
          <a:xfrm>
            <a:off x="857249" y="3517762"/>
            <a:ext cx="5143500" cy="515647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GB" sz="2400" dirty="0">
                <a:solidFill>
                  <a:schemeClr val="bg1"/>
                </a:solidFill>
                <a:latin typeface="Aptos Display" panose="020B0004020202020204" pitchFamily="34" charset="0"/>
                <a:cs typeface="Poppins" panose="00000500000000000000" pitchFamily="2" charset="0"/>
              </a:rPr>
              <a:t>Welcome to the Future: </a:t>
            </a:r>
            <a:br>
              <a:rPr lang="en-GB" sz="2400" dirty="0">
                <a:solidFill>
                  <a:schemeClr val="bg1"/>
                </a:solidFill>
                <a:latin typeface="Aptos Display" panose="020B0004020202020204" pitchFamily="34" charset="0"/>
                <a:cs typeface="Poppins" panose="00000500000000000000" pitchFamily="2" charset="0"/>
              </a:rPr>
            </a:br>
            <a:r>
              <a:rPr lang="en-GB" sz="2400" dirty="0">
                <a:solidFill>
                  <a:schemeClr val="bg1"/>
                </a:solidFill>
                <a:latin typeface="Aptos Display" panose="020B0004020202020204" pitchFamily="34" charset="0"/>
                <a:cs typeface="Poppins" panose="00000500000000000000" pitchFamily="2" charset="0"/>
              </a:rPr>
              <a:t>Your iMS Systems</a:t>
            </a:r>
            <a:br>
              <a:rPr lang="en-GB" dirty="0">
                <a:solidFill>
                  <a:schemeClr val="bg1"/>
                </a:solidFill>
                <a:latin typeface="Poppins" panose="00000500000000000000" pitchFamily="2" charset="0"/>
              </a:rPr>
            </a:br>
            <a:endParaRPr lang="en-GB" dirty="0">
              <a:solidFill>
                <a:schemeClr val="bg1"/>
              </a:solidFill>
            </a:endParaRPr>
          </a:p>
        </p:txBody>
      </p:sp>
      <p:sp>
        <p:nvSpPr>
          <p:cNvPr id="12" name="TextBox 11">
            <a:extLst>
              <a:ext uri="{FF2B5EF4-FFF2-40B4-BE49-F238E27FC236}">
                <a16:creationId xmlns:a16="http://schemas.microsoft.com/office/drawing/2014/main" id="{530145FA-3ABF-BFB1-9D6D-6539B1E1CDB5}"/>
              </a:ext>
            </a:extLst>
          </p:cNvPr>
          <p:cNvSpPr txBox="1"/>
          <p:nvPr/>
        </p:nvSpPr>
        <p:spPr>
          <a:xfrm>
            <a:off x="1714499" y="6420717"/>
            <a:ext cx="3429000" cy="369332"/>
          </a:xfrm>
          <a:prstGeom prst="rect">
            <a:avLst/>
          </a:prstGeom>
          <a:noFill/>
        </p:spPr>
        <p:txBody>
          <a:bodyPr wrap="square">
            <a:spAutoFit/>
          </a:bodyPr>
          <a:lstStyle/>
          <a:p>
            <a:pPr algn="ctr"/>
            <a:r>
              <a:rPr lang="en-GB" b="1" dirty="0">
                <a:solidFill>
                  <a:schemeClr val="bg1"/>
                </a:solidFill>
                <a:latin typeface="Aptos Display" panose="020B0004020202020204" pitchFamily="34" charset="0"/>
              </a:rPr>
              <a:t>Adoption Pack</a:t>
            </a:r>
          </a:p>
        </p:txBody>
      </p:sp>
    </p:spTree>
    <p:extLst>
      <p:ext uri="{BB962C8B-B14F-4D97-AF65-F5344CB8AC3E}">
        <p14:creationId xmlns:p14="http://schemas.microsoft.com/office/powerpoint/2010/main" val="78491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4C456-79A9-8F63-A7F2-1186253D75FC}"/>
              </a:ext>
            </a:extLst>
          </p:cNvPr>
          <p:cNvSpPr>
            <a:spLocks noGrp="1"/>
          </p:cNvSpPr>
          <p:nvPr>
            <p:ph type="title"/>
          </p:nvPr>
        </p:nvSpPr>
        <p:spPr>
          <a:xfrm>
            <a:off x="471486" y="1616797"/>
            <a:ext cx="6386511" cy="1179686"/>
          </a:xfrm>
        </p:spPr>
        <p:txBody>
          <a:bodyPr>
            <a:normAutofit/>
          </a:bodyPr>
          <a:lstStyle/>
          <a:p>
            <a:r>
              <a:rPr lang="en-GB" sz="2700" b="1" i="0" dirty="0">
                <a:solidFill>
                  <a:srgbClr val="152536"/>
                </a:solidFill>
                <a:effectLst/>
                <a:latin typeface="Aptos Display" panose="020B0004020202020204" pitchFamily="34" charset="0"/>
              </a:rPr>
              <a:t>Streamline Compliance Management</a:t>
            </a:r>
            <a:br>
              <a:rPr lang="en-GB" b="1" i="0" dirty="0">
                <a:solidFill>
                  <a:srgbClr val="152536"/>
                </a:solidFill>
                <a:effectLst/>
                <a:latin typeface="Aptos Display" panose="020B0004020202020204" pitchFamily="34" charset="0"/>
              </a:rPr>
            </a:br>
            <a:endParaRPr lang="en-GB" b="1" dirty="0">
              <a:latin typeface="Aptos Display" panose="020B0004020202020204" pitchFamily="34" charset="0"/>
            </a:endParaRPr>
          </a:p>
        </p:txBody>
      </p:sp>
      <p:sp>
        <p:nvSpPr>
          <p:cNvPr id="3" name="Content Placeholder 2">
            <a:extLst>
              <a:ext uri="{FF2B5EF4-FFF2-40B4-BE49-F238E27FC236}">
                <a16:creationId xmlns:a16="http://schemas.microsoft.com/office/drawing/2014/main" id="{4F5DD463-DB8B-AF8B-264C-DE0F9B95D172}"/>
              </a:ext>
            </a:extLst>
          </p:cNvPr>
          <p:cNvSpPr>
            <a:spLocks noGrp="1"/>
          </p:cNvSpPr>
          <p:nvPr>
            <p:ph idx="1"/>
          </p:nvPr>
        </p:nvSpPr>
        <p:spPr>
          <a:xfrm>
            <a:off x="471486" y="2400312"/>
            <a:ext cx="5853113" cy="2835204"/>
          </a:xfrm>
        </p:spPr>
        <p:txBody>
          <a:bodyPr>
            <a:normAutofit/>
          </a:bodyPr>
          <a:lstStyle/>
          <a:p>
            <a:pPr marL="0" indent="0">
              <a:buNone/>
            </a:pPr>
            <a:r>
              <a:rPr lang="en-GB" sz="1600" b="0" i="0" dirty="0">
                <a:effectLst/>
                <a:latin typeface="Aptos Display" panose="020B0004020202020204" pitchFamily="34" charset="0"/>
              </a:rPr>
              <a:t>With iMS Systems, you can say goodbye to the complexities of managing multiple compliance frameworks and regulations. Our solution consolidates all compliance requirements into one centralised system, providing you with real-time visibility on risks and conformance against standards and policies. You can expect a streamlined compliance management process, allowing you to track progress, identify gaps, and take proactive measures to address any non-compliance issues.</a:t>
            </a:r>
            <a:endParaRPr lang="en-GB" sz="1600" dirty="0">
              <a:latin typeface="Aptos Display" panose="020B0004020202020204" pitchFamily="34" charset="0"/>
            </a:endParaRPr>
          </a:p>
        </p:txBody>
      </p:sp>
      <p:sp>
        <p:nvSpPr>
          <p:cNvPr id="4" name="Title 1">
            <a:extLst>
              <a:ext uri="{FF2B5EF4-FFF2-40B4-BE49-F238E27FC236}">
                <a16:creationId xmlns:a16="http://schemas.microsoft.com/office/drawing/2014/main" id="{FB709A58-D27B-3E7C-BE2A-720986508915}"/>
              </a:ext>
            </a:extLst>
          </p:cNvPr>
          <p:cNvSpPr txBox="1">
            <a:spLocks/>
          </p:cNvSpPr>
          <p:nvPr/>
        </p:nvSpPr>
        <p:spPr>
          <a:xfrm>
            <a:off x="471486" y="4643123"/>
            <a:ext cx="5776912" cy="1179686"/>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GB" sz="2400" b="1" i="0" dirty="0">
                <a:solidFill>
                  <a:srgbClr val="152536"/>
                </a:solidFill>
                <a:effectLst/>
                <a:latin typeface="Aptos Display" panose="020B0004020202020204" pitchFamily="34" charset="0"/>
              </a:rPr>
              <a:t>Harness the Power of AI with Alice</a:t>
            </a:r>
            <a:br>
              <a:rPr lang="en-GB" sz="2800" b="1" dirty="0">
                <a:solidFill>
                  <a:srgbClr val="152536"/>
                </a:solidFill>
                <a:latin typeface="Aptos Display" panose="020B0004020202020204" pitchFamily="34" charset="0"/>
              </a:rPr>
            </a:br>
            <a:endParaRPr lang="en-GB" sz="2800" b="1" dirty="0">
              <a:latin typeface="Aptos Display" panose="020B0004020202020204" pitchFamily="34" charset="0"/>
            </a:endParaRPr>
          </a:p>
        </p:txBody>
      </p:sp>
      <p:sp>
        <p:nvSpPr>
          <p:cNvPr id="5" name="Content Placeholder 2">
            <a:extLst>
              <a:ext uri="{FF2B5EF4-FFF2-40B4-BE49-F238E27FC236}">
                <a16:creationId xmlns:a16="http://schemas.microsoft.com/office/drawing/2014/main" id="{05506396-B211-4C21-692F-955E7CB4ECDB}"/>
              </a:ext>
            </a:extLst>
          </p:cNvPr>
          <p:cNvSpPr txBox="1">
            <a:spLocks/>
          </p:cNvSpPr>
          <p:nvPr/>
        </p:nvSpPr>
        <p:spPr>
          <a:xfrm>
            <a:off x="471486" y="5425865"/>
            <a:ext cx="5853113" cy="283520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sz="1600" b="0" i="0" dirty="0">
                <a:effectLst/>
                <a:latin typeface="Aptos Display" panose="020B0004020202020204" pitchFamily="34" charset="0"/>
              </a:rPr>
              <a:t>As part of your iMS Systems adoption, you will have access to Alice, our intelligent assistant powered by Artificial Intelligence (AI). Alice will become your compliance expert, analysing data, providing insights, and reviewing risks. You can expect Alice to generate risk treatment plans, conduct impact analysis, and assist in producing policies aligned with compliance standards. With Alice by your side, you can save time, reduce administrative tasks, and make informed decisions based on data-driven insights.</a:t>
            </a:r>
            <a:endParaRPr lang="en-GB" sz="1600" dirty="0">
              <a:latin typeface="Aptos Display" panose="020B0004020202020204" pitchFamily="34" charset="0"/>
            </a:endParaRPr>
          </a:p>
        </p:txBody>
      </p:sp>
      <p:pic>
        <p:nvPicPr>
          <p:cNvPr id="7" name="Picture 6" descr="A screenshot of a login form&#10;&#10;Description automatically generated">
            <a:extLst>
              <a:ext uri="{FF2B5EF4-FFF2-40B4-BE49-F238E27FC236}">
                <a16:creationId xmlns:a16="http://schemas.microsoft.com/office/drawing/2014/main" id="{03296FF4-E47B-D63C-CC03-0E189B78E2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1" y="9410163"/>
            <a:ext cx="2516432" cy="1744027"/>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C15EA67B-544C-D7A7-A0E6-4865489F12B8}"/>
              </a:ext>
            </a:extLst>
          </p:cNvPr>
          <p:cNvPicPr>
            <a:picLocks noChangeAspect="1"/>
          </p:cNvPicPr>
          <p:nvPr/>
        </p:nvPicPr>
        <p:blipFill>
          <a:blip r:embed="rId3"/>
          <a:stretch>
            <a:fillRect/>
          </a:stretch>
        </p:blipFill>
        <p:spPr>
          <a:xfrm>
            <a:off x="3192779" y="7967580"/>
            <a:ext cx="3131820" cy="1414054"/>
          </a:xfrm>
          <a:prstGeom prst="rect">
            <a:avLst/>
          </a:prstGeom>
          <a:effectLst>
            <a:outerShdw blurRad="63500" sx="102000" sy="102000" algn="ctr" rotWithShape="0">
              <a:prstClr val="black">
                <a:alpha val="40000"/>
              </a:prstClr>
            </a:outerShdw>
          </a:effectLst>
        </p:spPr>
      </p:pic>
      <p:pic>
        <p:nvPicPr>
          <p:cNvPr id="11" name="Picture 10">
            <a:extLst>
              <a:ext uri="{FF2B5EF4-FFF2-40B4-BE49-F238E27FC236}">
                <a16:creationId xmlns:a16="http://schemas.microsoft.com/office/drawing/2014/main" id="{D8253E8D-28F5-F8C9-CCC1-2C8A2EA6DD08}"/>
              </a:ext>
            </a:extLst>
          </p:cNvPr>
          <p:cNvPicPr>
            <a:picLocks noChangeAspect="1"/>
          </p:cNvPicPr>
          <p:nvPr/>
        </p:nvPicPr>
        <p:blipFill>
          <a:blip r:embed="rId4"/>
          <a:stretch>
            <a:fillRect/>
          </a:stretch>
        </p:blipFill>
        <p:spPr>
          <a:xfrm>
            <a:off x="1436370" y="8646868"/>
            <a:ext cx="3985260" cy="1805821"/>
          </a:xfrm>
          <a:prstGeom prst="rect">
            <a:avLst/>
          </a:prstGeom>
          <a:effectLst>
            <a:outerShdw blurRad="63500" sx="102000" sy="102000" algn="ctr" rotWithShape="0">
              <a:prstClr val="black">
                <a:alpha val="40000"/>
              </a:prstClr>
            </a:outerShdw>
          </a:effectLst>
        </p:spPr>
      </p:pic>
      <p:pic>
        <p:nvPicPr>
          <p:cNvPr id="6" name="Picture 5" descr="A blue and black background&#10;&#10;Description automatically generated">
            <a:extLst>
              <a:ext uri="{FF2B5EF4-FFF2-40B4-BE49-F238E27FC236}">
                <a16:creationId xmlns:a16="http://schemas.microsoft.com/office/drawing/2014/main" id="{BEA9B81E-B3C8-59F8-B369-96A9A790D7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413"/>
            <a:ext cx="6858000" cy="1179687"/>
          </a:xfrm>
          <a:prstGeom prst="rect">
            <a:avLst/>
          </a:prstGeom>
        </p:spPr>
      </p:pic>
      <p:pic>
        <p:nvPicPr>
          <p:cNvPr id="8" name="Picture 7" descr="A white letter on a black background&#10;&#10;Description automatically generated">
            <a:extLst>
              <a:ext uri="{FF2B5EF4-FFF2-40B4-BE49-F238E27FC236}">
                <a16:creationId xmlns:a16="http://schemas.microsoft.com/office/drawing/2014/main" id="{57A5E223-0E0A-8A27-3C0F-6DF9022EBD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17227" y="387449"/>
            <a:ext cx="2223545" cy="407614"/>
          </a:xfrm>
          <a:prstGeom prst="rect">
            <a:avLst/>
          </a:prstGeom>
          <a:effectLst>
            <a:innerShdw blurRad="63500" dist="50800" dir="13500000">
              <a:prstClr val="black">
                <a:alpha val="50000"/>
              </a:prstClr>
            </a:innerShdw>
          </a:effectLst>
        </p:spPr>
      </p:pic>
      <p:pic>
        <p:nvPicPr>
          <p:cNvPr id="13" name="Picture 12" descr="A cartoon of a blue robot&#10;&#10;Description automatically generated">
            <a:extLst>
              <a:ext uri="{FF2B5EF4-FFF2-40B4-BE49-F238E27FC236}">
                <a16:creationId xmlns:a16="http://schemas.microsoft.com/office/drawing/2014/main" id="{EDF6E7B0-3325-B3E7-805E-4E1388751B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60023" y="9791688"/>
            <a:ext cx="1320151" cy="1765829"/>
          </a:xfrm>
          <a:prstGeom prst="rect">
            <a:avLst/>
          </a:prstGeom>
        </p:spPr>
      </p:pic>
      <p:pic>
        <p:nvPicPr>
          <p:cNvPr id="15" name="Picture 14" descr="A black background with a black square&#10;&#10;Description automatically generated with medium confidence">
            <a:extLst>
              <a:ext uri="{FF2B5EF4-FFF2-40B4-BE49-F238E27FC236}">
                <a16:creationId xmlns:a16="http://schemas.microsoft.com/office/drawing/2014/main" id="{DBDEE7B4-15AA-F8A1-2FCB-E39078CDB85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23023" y="11923349"/>
            <a:ext cx="954084" cy="221832"/>
          </a:xfrm>
          <a:prstGeom prst="rect">
            <a:avLst/>
          </a:prstGeom>
        </p:spPr>
      </p:pic>
    </p:spTree>
    <p:extLst>
      <p:ext uri="{BB962C8B-B14F-4D97-AF65-F5344CB8AC3E}">
        <p14:creationId xmlns:p14="http://schemas.microsoft.com/office/powerpoint/2010/main" val="4208615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05BA0-477B-E44A-11CC-7A9BA43DB4BD}"/>
              </a:ext>
            </a:extLst>
          </p:cNvPr>
          <p:cNvSpPr>
            <a:spLocks noGrp="1"/>
          </p:cNvSpPr>
          <p:nvPr>
            <p:ph type="title"/>
          </p:nvPr>
        </p:nvSpPr>
        <p:spPr/>
        <p:txBody>
          <a:bodyPr>
            <a:normAutofit/>
          </a:bodyPr>
          <a:lstStyle/>
          <a:p>
            <a:pPr algn="l"/>
            <a:r>
              <a:rPr lang="en-GB" sz="2400" b="1" i="0" dirty="0">
                <a:solidFill>
                  <a:srgbClr val="152536"/>
                </a:solidFill>
                <a:effectLst/>
                <a:latin typeface="Aptos Display" panose="020B0004020202020204" pitchFamily="34" charset="0"/>
              </a:rPr>
              <a:t>Document Management: Consolidate, Centralise, and Share with Confidence</a:t>
            </a:r>
          </a:p>
        </p:txBody>
      </p:sp>
      <p:sp>
        <p:nvSpPr>
          <p:cNvPr id="4" name="Title 1">
            <a:extLst>
              <a:ext uri="{FF2B5EF4-FFF2-40B4-BE49-F238E27FC236}">
                <a16:creationId xmlns:a16="http://schemas.microsoft.com/office/drawing/2014/main" id="{5B7C161C-5D23-6B29-FD20-57EAA410B08B}"/>
              </a:ext>
            </a:extLst>
          </p:cNvPr>
          <p:cNvSpPr txBox="1">
            <a:spLocks/>
          </p:cNvSpPr>
          <p:nvPr/>
        </p:nvSpPr>
        <p:spPr>
          <a:xfrm>
            <a:off x="457574" y="4595721"/>
            <a:ext cx="5915025" cy="235655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r>
              <a:rPr lang="en-GB" sz="2400" b="1" i="0" dirty="0">
                <a:effectLst/>
                <a:latin typeface="Aptos Display" panose="020B0004020202020204" pitchFamily="34" charset="0"/>
              </a:rPr>
              <a:t>Transforming Risk Management for the Digital Age</a:t>
            </a:r>
          </a:p>
        </p:txBody>
      </p:sp>
      <p:sp>
        <p:nvSpPr>
          <p:cNvPr id="5" name="Content Placeholder 2">
            <a:extLst>
              <a:ext uri="{FF2B5EF4-FFF2-40B4-BE49-F238E27FC236}">
                <a16:creationId xmlns:a16="http://schemas.microsoft.com/office/drawing/2014/main" id="{E3DA2AB2-B3AB-310B-D98A-A84E9D94B1FC}"/>
              </a:ext>
            </a:extLst>
          </p:cNvPr>
          <p:cNvSpPr txBox="1">
            <a:spLocks/>
          </p:cNvSpPr>
          <p:nvPr/>
        </p:nvSpPr>
        <p:spPr>
          <a:xfrm>
            <a:off x="471487" y="5272476"/>
            <a:ext cx="5915025" cy="211892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endParaRPr lang="en-GB" sz="1600" dirty="0"/>
          </a:p>
        </p:txBody>
      </p:sp>
      <p:sp>
        <p:nvSpPr>
          <p:cNvPr id="10" name="Content Placeholder 2">
            <a:extLst>
              <a:ext uri="{FF2B5EF4-FFF2-40B4-BE49-F238E27FC236}">
                <a16:creationId xmlns:a16="http://schemas.microsoft.com/office/drawing/2014/main" id="{7D655D7C-057B-2CA3-9A36-74D4804633C8}"/>
              </a:ext>
            </a:extLst>
          </p:cNvPr>
          <p:cNvSpPr txBox="1">
            <a:spLocks/>
          </p:cNvSpPr>
          <p:nvPr/>
        </p:nvSpPr>
        <p:spPr>
          <a:xfrm>
            <a:off x="471486" y="6275521"/>
            <a:ext cx="5887202" cy="146264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sz="1600" b="0" i="0" dirty="0">
                <a:effectLst/>
                <a:latin typeface="Aptos Display" panose="020B0004020202020204" pitchFamily="34" charset="0"/>
              </a:rPr>
              <a:t>iMS Systems offers an AI-powered assistant, Alice, for comprehensive risk management. Alice analyses data, identifies risks, and provides real-time monitoring. It generates treatment plans, integrates with compliance frameworks, and enables informed decision-making. Adopting iMS Systems and Alice AI equips your organisation with tools to enhance efficiency, protect assets, and drive growth</a:t>
            </a:r>
            <a:endParaRPr lang="en-GB" sz="1800" dirty="0">
              <a:latin typeface="Aptos Display" panose="020B0004020202020204" pitchFamily="34" charset="0"/>
            </a:endParaRPr>
          </a:p>
        </p:txBody>
      </p:sp>
      <p:pic>
        <p:nvPicPr>
          <p:cNvPr id="20" name="Picture 19" descr="A blue and black background&#10;&#10;Description automatically generated">
            <a:extLst>
              <a:ext uri="{FF2B5EF4-FFF2-40B4-BE49-F238E27FC236}">
                <a16:creationId xmlns:a16="http://schemas.microsoft.com/office/drawing/2014/main" id="{7BE37735-F6B8-9980-A2F4-4F2CB02D86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792"/>
            <a:ext cx="6858000" cy="1186780"/>
          </a:xfrm>
          <a:prstGeom prst="rect">
            <a:avLst/>
          </a:prstGeom>
        </p:spPr>
      </p:pic>
      <p:pic>
        <p:nvPicPr>
          <p:cNvPr id="21" name="Picture 20" descr="A white letter on a black background&#10;&#10;Description automatically generated">
            <a:extLst>
              <a:ext uri="{FF2B5EF4-FFF2-40B4-BE49-F238E27FC236}">
                <a16:creationId xmlns:a16="http://schemas.microsoft.com/office/drawing/2014/main" id="{8983BE9B-BB98-D2F2-9BDA-D5C355C5E0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5053" y="432161"/>
            <a:ext cx="2223545" cy="407614"/>
          </a:xfrm>
          <a:prstGeom prst="rect">
            <a:avLst/>
          </a:prstGeom>
          <a:effectLst>
            <a:innerShdw blurRad="63500" dist="50800" dir="13500000">
              <a:prstClr val="black">
                <a:alpha val="50000"/>
              </a:prstClr>
            </a:innerShdw>
          </a:effectLst>
        </p:spPr>
      </p:pic>
      <p:pic>
        <p:nvPicPr>
          <p:cNvPr id="6" name="Picture 5" descr="A black background with a black square&#10;&#10;Description automatically generated with medium confidence">
            <a:extLst>
              <a:ext uri="{FF2B5EF4-FFF2-40B4-BE49-F238E27FC236}">
                <a16:creationId xmlns:a16="http://schemas.microsoft.com/office/drawing/2014/main" id="{9C2165E9-060B-D2C0-DE17-1F8174F53A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3023" y="11923349"/>
            <a:ext cx="954084" cy="221832"/>
          </a:xfrm>
          <a:prstGeom prst="rect">
            <a:avLst/>
          </a:prstGeom>
        </p:spPr>
      </p:pic>
      <p:sp>
        <p:nvSpPr>
          <p:cNvPr id="8" name="Rectangle 1">
            <a:extLst>
              <a:ext uri="{FF2B5EF4-FFF2-40B4-BE49-F238E27FC236}">
                <a16:creationId xmlns:a16="http://schemas.microsoft.com/office/drawing/2014/main" id="{486FB476-0CA8-A93D-18E7-9E3378C8E262}"/>
              </a:ext>
            </a:extLst>
          </p:cNvPr>
          <p:cNvSpPr>
            <a:spLocks noGrp="1" noChangeArrowheads="1"/>
          </p:cNvSpPr>
          <p:nvPr>
            <p:ph idx="1"/>
          </p:nvPr>
        </p:nvSpPr>
        <p:spPr bwMode="auto">
          <a:xfrm>
            <a:off x="471486" y="2410564"/>
            <a:ext cx="6226494"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ptos Display" panose="020B0004020202020204" pitchFamily="34" charset="0"/>
              </a:rPr>
              <a:t>You will streamline your document management processes by consolidating and centralising all your documents.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ptos Display" panose="020B0004020202020204" pitchFamily="34" charset="0"/>
              </a:rPr>
              <a:t>This solution enables easy access, efficient collaboration,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ptos Display" panose="020B0004020202020204" pitchFamily="34" charset="0"/>
              </a:rPr>
              <a:t>and robust security measures.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ptos Display" panose="020B0004020202020204" pitchFamily="34" charset="0"/>
              </a:rPr>
              <a:t>You can securely share documents internally and externally, track activities with an audit trail, and ensure compliance with ISO 27001. Additionally, iMS Systems allows you to track policies and processes, manage documents inline with CIA principles,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ptos Display" panose="020B0004020202020204" pitchFamily="34" charset="0"/>
              </a:rPr>
              <a:t>and benefit from an intuitive interface and automated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ptos Display" panose="020B0004020202020204" pitchFamily="34" charset="0"/>
              </a:rPr>
              <a:t>workflows for efficient document management.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1" name="Picture 10">
            <a:extLst>
              <a:ext uri="{FF2B5EF4-FFF2-40B4-BE49-F238E27FC236}">
                <a16:creationId xmlns:a16="http://schemas.microsoft.com/office/drawing/2014/main" id="{483C4C09-FAC1-DB9B-CB02-F7A7B617EA8B}"/>
              </a:ext>
            </a:extLst>
          </p:cNvPr>
          <p:cNvPicPr>
            <a:picLocks noChangeAspect="1"/>
          </p:cNvPicPr>
          <p:nvPr/>
        </p:nvPicPr>
        <p:blipFill>
          <a:blip r:embed="rId5"/>
          <a:stretch>
            <a:fillRect/>
          </a:stretch>
        </p:blipFill>
        <p:spPr>
          <a:xfrm>
            <a:off x="805065" y="8147814"/>
            <a:ext cx="4026015" cy="1088570"/>
          </a:xfrm>
          <a:prstGeom prst="rect">
            <a:avLst/>
          </a:prstGeom>
          <a:effectLst>
            <a:outerShdw blurRad="63500" sx="102000" sy="102000" algn="ctr" rotWithShape="0">
              <a:prstClr val="black">
                <a:alpha val="40000"/>
              </a:prstClr>
            </a:outerShdw>
          </a:effectLst>
        </p:spPr>
      </p:pic>
      <p:pic>
        <p:nvPicPr>
          <p:cNvPr id="13" name="Picture 12">
            <a:extLst>
              <a:ext uri="{FF2B5EF4-FFF2-40B4-BE49-F238E27FC236}">
                <a16:creationId xmlns:a16="http://schemas.microsoft.com/office/drawing/2014/main" id="{ECDF9F40-DABA-AA3E-A4AC-D44641E84486}"/>
              </a:ext>
            </a:extLst>
          </p:cNvPr>
          <p:cNvPicPr>
            <a:picLocks noChangeAspect="1"/>
          </p:cNvPicPr>
          <p:nvPr/>
        </p:nvPicPr>
        <p:blipFill>
          <a:blip r:embed="rId6"/>
          <a:stretch>
            <a:fillRect/>
          </a:stretch>
        </p:blipFill>
        <p:spPr>
          <a:xfrm>
            <a:off x="1700945" y="8995130"/>
            <a:ext cx="4245821" cy="1931949"/>
          </a:xfrm>
          <a:prstGeom prst="rect">
            <a:avLst/>
          </a:prstGeom>
          <a:effectLst>
            <a:outerShdw blurRad="63500" sx="102000" sy="102000" algn="ctr" rotWithShape="0">
              <a:prstClr val="black">
                <a:alpha val="40000"/>
              </a:prstClr>
            </a:outerShdw>
          </a:effectLst>
        </p:spPr>
      </p:pic>
      <p:pic>
        <p:nvPicPr>
          <p:cNvPr id="15" name="Picture 14">
            <a:extLst>
              <a:ext uri="{FF2B5EF4-FFF2-40B4-BE49-F238E27FC236}">
                <a16:creationId xmlns:a16="http://schemas.microsoft.com/office/drawing/2014/main" id="{F6D69A53-3650-1521-ED71-EF928B9AABF4}"/>
              </a:ext>
            </a:extLst>
          </p:cNvPr>
          <p:cNvPicPr>
            <a:picLocks noChangeAspect="1"/>
          </p:cNvPicPr>
          <p:nvPr/>
        </p:nvPicPr>
        <p:blipFill>
          <a:blip r:embed="rId7"/>
          <a:stretch>
            <a:fillRect/>
          </a:stretch>
        </p:blipFill>
        <p:spPr>
          <a:xfrm>
            <a:off x="586488" y="10190728"/>
            <a:ext cx="3749291" cy="169373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394442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70D48-A0FA-3B21-B969-65CA7D1B4BB0}"/>
              </a:ext>
            </a:extLst>
          </p:cNvPr>
          <p:cNvSpPr>
            <a:spLocks noGrp="1"/>
          </p:cNvSpPr>
          <p:nvPr>
            <p:ph type="title"/>
          </p:nvPr>
        </p:nvSpPr>
        <p:spPr>
          <a:xfrm>
            <a:off x="471487" y="1479936"/>
            <a:ext cx="5860732" cy="897746"/>
          </a:xfrm>
        </p:spPr>
        <p:txBody>
          <a:bodyPr>
            <a:noAutofit/>
          </a:bodyPr>
          <a:lstStyle/>
          <a:p>
            <a:r>
              <a:rPr lang="en-GB" sz="2400" b="1" i="0" dirty="0">
                <a:solidFill>
                  <a:srgbClr val="152536"/>
                </a:solidFill>
                <a:effectLst/>
                <a:latin typeface="Aptos Display" panose="020B0004020202020204" pitchFamily="34" charset="0"/>
              </a:rPr>
              <a:t>Comprehensive Solution for </a:t>
            </a:r>
            <a:br>
              <a:rPr lang="en-GB" sz="2400" b="1" i="0" dirty="0">
                <a:solidFill>
                  <a:srgbClr val="152536"/>
                </a:solidFill>
                <a:effectLst/>
                <a:latin typeface="Aptos Display" panose="020B0004020202020204" pitchFamily="34" charset="0"/>
              </a:rPr>
            </a:br>
            <a:r>
              <a:rPr lang="en-GB" sz="2400" b="1" i="0" dirty="0">
                <a:solidFill>
                  <a:srgbClr val="152536"/>
                </a:solidFill>
                <a:effectLst/>
                <a:latin typeface="Aptos Display" panose="020B0004020202020204" pitchFamily="34" charset="0"/>
              </a:rPr>
              <a:t>Future-Proofing</a:t>
            </a:r>
            <a:br>
              <a:rPr lang="en-GB" sz="2400" b="1" i="0" dirty="0">
                <a:solidFill>
                  <a:srgbClr val="152536"/>
                </a:solidFill>
                <a:effectLst/>
                <a:latin typeface="Aptos Display" panose="020B0004020202020204" pitchFamily="34" charset="0"/>
              </a:rPr>
            </a:br>
            <a:endParaRPr lang="en-GB" sz="2400" b="1" dirty="0">
              <a:latin typeface="Aptos Display" panose="020B0004020202020204" pitchFamily="34" charset="0"/>
            </a:endParaRPr>
          </a:p>
        </p:txBody>
      </p:sp>
      <p:sp>
        <p:nvSpPr>
          <p:cNvPr id="3" name="Content Placeholder 2">
            <a:extLst>
              <a:ext uri="{FF2B5EF4-FFF2-40B4-BE49-F238E27FC236}">
                <a16:creationId xmlns:a16="http://schemas.microsoft.com/office/drawing/2014/main" id="{C3B66602-8B64-1FEB-151D-02A2D8627ED0}"/>
              </a:ext>
            </a:extLst>
          </p:cNvPr>
          <p:cNvSpPr>
            <a:spLocks noGrp="1"/>
          </p:cNvSpPr>
          <p:nvPr>
            <p:ph idx="1"/>
          </p:nvPr>
        </p:nvSpPr>
        <p:spPr>
          <a:xfrm>
            <a:off x="471487" y="2335056"/>
            <a:ext cx="5915025" cy="1955236"/>
          </a:xfrm>
        </p:spPr>
        <p:txBody>
          <a:bodyPr>
            <a:noAutofit/>
          </a:bodyPr>
          <a:lstStyle/>
          <a:p>
            <a:pPr marL="0" indent="0">
              <a:buNone/>
            </a:pPr>
            <a:r>
              <a:rPr lang="en-GB" sz="1600" b="0" i="0" dirty="0">
                <a:effectLst/>
                <a:latin typeface="Aptos Display" panose="020B0004020202020204" pitchFamily="34" charset="0"/>
              </a:rPr>
              <a:t>iMS Systems offers a comprehensive solution that goes beyond current compliance requirements. By adopting our system, you are preparing your organisation for future regulatory changes and industry trends. You can expect a holistic approach to compliance management, risk analysis, and policy generation. iMS Systems will help you future-proof your operations, ensuring that you stay ahead of the curve and maintain a competitive edge</a:t>
            </a:r>
            <a:endParaRPr lang="en-GB" sz="1600" dirty="0">
              <a:latin typeface="Aptos Display" panose="020B0004020202020204" pitchFamily="34" charset="0"/>
            </a:endParaRPr>
          </a:p>
        </p:txBody>
      </p:sp>
      <p:sp>
        <p:nvSpPr>
          <p:cNvPr id="4" name="Title 1">
            <a:extLst>
              <a:ext uri="{FF2B5EF4-FFF2-40B4-BE49-F238E27FC236}">
                <a16:creationId xmlns:a16="http://schemas.microsoft.com/office/drawing/2014/main" id="{E21DCE79-B4D5-FD6F-C763-39005AA0258A}"/>
              </a:ext>
            </a:extLst>
          </p:cNvPr>
          <p:cNvSpPr txBox="1">
            <a:spLocks/>
          </p:cNvSpPr>
          <p:nvPr/>
        </p:nvSpPr>
        <p:spPr>
          <a:xfrm>
            <a:off x="471487" y="4596274"/>
            <a:ext cx="5860732" cy="897746"/>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GB" sz="2400" b="1" i="0" dirty="0">
                <a:solidFill>
                  <a:srgbClr val="152536"/>
                </a:solidFill>
                <a:effectLst/>
                <a:latin typeface="Aptos Display" panose="020B0004020202020204" pitchFamily="34" charset="0"/>
              </a:rPr>
              <a:t>Assure Interested Parties</a:t>
            </a:r>
          </a:p>
          <a:p>
            <a:br>
              <a:rPr lang="en-GB" sz="2400" dirty="0">
                <a:solidFill>
                  <a:srgbClr val="152536"/>
                </a:solidFill>
                <a:latin typeface="Poppins" panose="00000500000000000000" pitchFamily="2" charset="0"/>
              </a:rPr>
            </a:br>
            <a:endParaRPr lang="en-GB" sz="2400" dirty="0"/>
          </a:p>
        </p:txBody>
      </p:sp>
      <p:sp>
        <p:nvSpPr>
          <p:cNvPr id="5" name="Content Placeholder 2">
            <a:extLst>
              <a:ext uri="{FF2B5EF4-FFF2-40B4-BE49-F238E27FC236}">
                <a16:creationId xmlns:a16="http://schemas.microsoft.com/office/drawing/2014/main" id="{B31FA020-7465-E062-B2B5-24B224143CBF}"/>
              </a:ext>
            </a:extLst>
          </p:cNvPr>
          <p:cNvSpPr txBox="1">
            <a:spLocks/>
          </p:cNvSpPr>
          <p:nvPr/>
        </p:nvSpPr>
        <p:spPr>
          <a:xfrm>
            <a:off x="444340" y="5205167"/>
            <a:ext cx="5915025" cy="1955236"/>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sz="1600" b="0" i="0" dirty="0">
                <a:effectLst/>
                <a:latin typeface="Aptos Display" panose="020B0004020202020204" pitchFamily="34" charset="0"/>
              </a:rPr>
              <a:t>Adopting iMS Systems will provide assurance to your interested parties, including customers, partners, and investors. By demonstrating your commitment to maintaining high standards and meeting regulatory requirements, you will build trust and confidence in your organisation's operations. Expect iMS Systems to enhance your reputation and attract potential business opportunities, as interested parties recognise your dedication to compliance excellence.</a:t>
            </a:r>
            <a:endParaRPr lang="en-GB" sz="1600" dirty="0">
              <a:latin typeface="Aptos Display" panose="020B0004020202020204" pitchFamily="34" charset="0"/>
            </a:endParaRPr>
          </a:p>
        </p:txBody>
      </p:sp>
      <p:pic>
        <p:nvPicPr>
          <p:cNvPr id="7" name="Picture 6">
            <a:extLst>
              <a:ext uri="{FF2B5EF4-FFF2-40B4-BE49-F238E27FC236}">
                <a16:creationId xmlns:a16="http://schemas.microsoft.com/office/drawing/2014/main" id="{ADDFB432-6F59-3EF5-76CE-28ABD8CC665E}"/>
              </a:ext>
            </a:extLst>
          </p:cNvPr>
          <p:cNvPicPr>
            <a:picLocks noChangeAspect="1"/>
          </p:cNvPicPr>
          <p:nvPr/>
        </p:nvPicPr>
        <p:blipFill>
          <a:blip r:embed="rId2"/>
          <a:stretch>
            <a:fillRect/>
          </a:stretch>
        </p:blipFill>
        <p:spPr>
          <a:xfrm>
            <a:off x="863236" y="9854538"/>
            <a:ext cx="3559629" cy="1628760"/>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CCDCC672-24B5-E8E8-0C02-D90FBBDD15A1}"/>
              </a:ext>
            </a:extLst>
          </p:cNvPr>
          <p:cNvPicPr>
            <a:picLocks noChangeAspect="1"/>
          </p:cNvPicPr>
          <p:nvPr/>
        </p:nvPicPr>
        <p:blipFill>
          <a:blip r:embed="rId3"/>
          <a:stretch>
            <a:fillRect/>
          </a:stretch>
        </p:blipFill>
        <p:spPr>
          <a:xfrm>
            <a:off x="3428999" y="9115440"/>
            <a:ext cx="2628900" cy="1197348"/>
          </a:xfrm>
          <a:prstGeom prst="rect">
            <a:avLst/>
          </a:prstGeom>
          <a:effectLst>
            <a:outerShdw blurRad="63500" sx="102000" sy="102000" algn="ctr" rotWithShape="0">
              <a:prstClr val="black">
                <a:alpha val="40000"/>
              </a:prstClr>
            </a:outerShdw>
          </a:effectLst>
        </p:spPr>
      </p:pic>
      <p:pic>
        <p:nvPicPr>
          <p:cNvPr id="11" name="Picture 10">
            <a:extLst>
              <a:ext uri="{FF2B5EF4-FFF2-40B4-BE49-F238E27FC236}">
                <a16:creationId xmlns:a16="http://schemas.microsoft.com/office/drawing/2014/main" id="{17B70627-D429-4947-3107-9F6CA509EE45}"/>
              </a:ext>
            </a:extLst>
          </p:cNvPr>
          <p:cNvPicPr>
            <a:picLocks noChangeAspect="1"/>
          </p:cNvPicPr>
          <p:nvPr/>
        </p:nvPicPr>
        <p:blipFill>
          <a:blip r:embed="rId4"/>
          <a:stretch>
            <a:fillRect/>
          </a:stretch>
        </p:blipFill>
        <p:spPr>
          <a:xfrm>
            <a:off x="471487" y="8831328"/>
            <a:ext cx="2810058" cy="1284979"/>
          </a:xfrm>
          <a:prstGeom prst="rect">
            <a:avLst/>
          </a:prstGeom>
          <a:effectLst>
            <a:outerShdw blurRad="63500" sx="102000" sy="102000" algn="ctr" rotWithShape="0">
              <a:prstClr val="black">
                <a:alpha val="40000"/>
              </a:prstClr>
            </a:outerShdw>
          </a:effectLst>
        </p:spPr>
      </p:pic>
      <p:pic>
        <p:nvPicPr>
          <p:cNvPr id="13" name="Picture 12" descr="A blue and black background&#10;&#10;Description automatically generated">
            <a:extLst>
              <a:ext uri="{FF2B5EF4-FFF2-40B4-BE49-F238E27FC236}">
                <a16:creationId xmlns:a16="http://schemas.microsoft.com/office/drawing/2014/main" id="{45F50B29-83A2-993A-8657-A27E987A15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414"/>
            <a:ext cx="6858000" cy="1179935"/>
          </a:xfrm>
          <a:prstGeom prst="rect">
            <a:avLst/>
          </a:prstGeom>
        </p:spPr>
      </p:pic>
      <p:pic>
        <p:nvPicPr>
          <p:cNvPr id="14" name="Picture 13" descr="A white letter on a black background&#10;&#10;Description automatically generated">
            <a:extLst>
              <a:ext uri="{FF2B5EF4-FFF2-40B4-BE49-F238E27FC236}">
                <a16:creationId xmlns:a16="http://schemas.microsoft.com/office/drawing/2014/main" id="{48E18093-7706-1C0B-B6C1-30B7CE3B24B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17226" y="387574"/>
            <a:ext cx="2223545" cy="407614"/>
          </a:xfrm>
          <a:prstGeom prst="rect">
            <a:avLst/>
          </a:prstGeom>
          <a:effectLst>
            <a:innerShdw blurRad="63500" dist="50800" dir="13500000">
              <a:prstClr val="black">
                <a:alpha val="50000"/>
              </a:prstClr>
            </a:innerShdw>
          </a:effectLst>
        </p:spPr>
      </p:pic>
      <p:pic>
        <p:nvPicPr>
          <p:cNvPr id="15" name="Picture 14">
            <a:extLst>
              <a:ext uri="{FF2B5EF4-FFF2-40B4-BE49-F238E27FC236}">
                <a16:creationId xmlns:a16="http://schemas.microsoft.com/office/drawing/2014/main" id="{0B8CA365-067B-1767-46CE-CEC7DC3618DB}"/>
              </a:ext>
            </a:extLst>
          </p:cNvPr>
          <p:cNvPicPr>
            <a:picLocks noChangeAspect="1"/>
          </p:cNvPicPr>
          <p:nvPr/>
        </p:nvPicPr>
        <p:blipFill>
          <a:blip r:embed="rId7"/>
          <a:stretch>
            <a:fillRect/>
          </a:stretch>
        </p:blipFill>
        <p:spPr>
          <a:xfrm>
            <a:off x="2033200" y="7610177"/>
            <a:ext cx="3086514" cy="1548904"/>
          </a:xfrm>
          <a:prstGeom prst="rect">
            <a:avLst/>
          </a:prstGeom>
          <a:effectLst>
            <a:outerShdw blurRad="63500" sx="102000" sy="102000" algn="ctr" rotWithShape="0">
              <a:prstClr val="black">
                <a:alpha val="40000"/>
              </a:prstClr>
            </a:outerShdw>
          </a:effectLst>
        </p:spPr>
      </p:pic>
      <p:pic>
        <p:nvPicPr>
          <p:cNvPr id="6" name="Picture 5" descr="A black background with a black square&#10;&#10;Description automatically generated with medium confidence">
            <a:extLst>
              <a:ext uri="{FF2B5EF4-FFF2-40B4-BE49-F238E27FC236}">
                <a16:creationId xmlns:a16="http://schemas.microsoft.com/office/drawing/2014/main" id="{84191C13-0ABA-19C1-8B8F-037033150D7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23023" y="11923349"/>
            <a:ext cx="954084" cy="221832"/>
          </a:xfrm>
          <a:prstGeom prst="rect">
            <a:avLst/>
          </a:prstGeom>
        </p:spPr>
      </p:pic>
    </p:spTree>
    <p:extLst>
      <p:ext uri="{BB962C8B-B14F-4D97-AF65-F5344CB8AC3E}">
        <p14:creationId xmlns:p14="http://schemas.microsoft.com/office/powerpoint/2010/main" val="4066173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05BA0-477B-E44A-11CC-7A9BA43DB4BD}"/>
              </a:ext>
            </a:extLst>
          </p:cNvPr>
          <p:cNvSpPr>
            <a:spLocks noGrp="1"/>
          </p:cNvSpPr>
          <p:nvPr>
            <p:ph type="title"/>
          </p:nvPr>
        </p:nvSpPr>
        <p:spPr/>
        <p:txBody>
          <a:bodyPr>
            <a:normAutofit/>
          </a:bodyPr>
          <a:lstStyle/>
          <a:p>
            <a:r>
              <a:rPr lang="en-GB" sz="2400" b="1" i="0" dirty="0">
                <a:solidFill>
                  <a:srgbClr val="152536"/>
                </a:solidFill>
                <a:effectLst/>
                <a:latin typeface="Aptos Display" panose="020B0004020202020204" pitchFamily="34" charset="0"/>
              </a:rPr>
              <a:t>Prepare for External Audits with Ease</a:t>
            </a:r>
            <a:endParaRPr lang="en-GB" sz="2400" b="1" dirty="0">
              <a:latin typeface="Aptos Display" panose="020B0004020202020204" pitchFamily="34" charset="0"/>
            </a:endParaRPr>
          </a:p>
        </p:txBody>
      </p:sp>
      <p:sp>
        <p:nvSpPr>
          <p:cNvPr id="3" name="Content Placeholder 2">
            <a:extLst>
              <a:ext uri="{FF2B5EF4-FFF2-40B4-BE49-F238E27FC236}">
                <a16:creationId xmlns:a16="http://schemas.microsoft.com/office/drawing/2014/main" id="{AEAC53E1-738D-7EBA-7B65-1AF57F6F7E18}"/>
              </a:ext>
            </a:extLst>
          </p:cNvPr>
          <p:cNvSpPr>
            <a:spLocks noGrp="1"/>
          </p:cNvSpPr>
          <p:nvPr>
            <p:ph idx="1"/>
          </p:nvPr>
        </p:nvSpPr>
        <p:spPr>
          <a:xfrm>
            <a:off x="471487" y="2285436"/>
            <a:ext cx="5915025" cy="2118924"/>
          </a:xfrm>
        </p:spPr>
        <p:txBody>
          <a:bodyPr>
            <a:normAutofit/>
          </a:bodyPr>
          <a:lstStyle/>
          <a:p>
            <a:pPr marL="0" indent="0">
              <a:buNone/>
            </a:pPr>
            <a:r>
              <a:rPr lang="en-GB" sz="1600" b="0" i="0" dirty="0">
                <a:effectLst/>
                <a:latin typeface="Aptos Display" panose="020B0004020202020204" pitchFamily="34" charset="0"/>
              </a:rPr>
              <a:t>As part of your iMS Systems adoption, you can expect a seamless process when it comes to external or remote audits by certification bodies. Our solution provides the necessary tools and features to prepare for audits, including the ability to generate reports, track compliance progress, and demonstrate adherence to regulatory requirements. You can expect a streamlined audit process, saving time and resources for your organisation.</a:t>
            </a:r>
            <a:endParaRPr lang="en-GB" sz="1600" dirty="0">
              <a:latin typeface="Aptos Display" panose="020B0004020202020204" pitchFamily="34" charset="0"/>
            </a:endParaRPr>
          </a:p>
        </p:txBody>
      </p:sp>
      <p:sp>
        <p:nvSpPr>
          <p:cNvPr id="4" name="Title 1">
            <a:extLst>
              <a:ext uri="{FF2B5EF4-FFF2-40B4-BE49-F238E27FC236}">
                <a16:creationId xmlns:a16="http://schemas.microsoft.com/office/drawing/2014/main" id="{5B7C161C-5D23-6B29-FD20-57EAA410B08B}"/>
              </a:ext>
            </a:extLst>
          </p:cNvPr>
          <p:cNvSpPr txBox="1">
            <a:spLocks/>
          </p:cNvSpPr>
          <p:nvPr/>
        </p:nvSpPr>
        <p:spPr>
          <a:xfrm>
            <a:off x="471487" y="3567574"/>
            <a:ext cx="5915025" cy="235655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r>
              <a:rPr lang="en-GB" sz="2400" b="1" i="0" dirty="0">
                <a:solidFill>
                  <a:srgbClr val="152536"/>
                </a:solidFill>
                <a:effectLst/>
                <a:latin typeface="Aptos Display" panose="020B0004020202020204" pitchFamily="34" charset="0"/>
              </a:rPr>
              <a:t>Embrace the Future Today</a:t>
            </a:r>
          </a:p>
        </p:txBody>
      </p:sp>
      <p:sp>
        <p:nvSpPr>
          <p:cNvPr id="5" name="Content Placeholder 2">
            <a:extLst>
              <a:ext uri="{FF2B5EF4-FFF2-40B4-BE49-F238E27FC236}">
                <a16:creationId xmlns:a16="http://schemas.microsoft.com/office/drawing/2014/main" id="{E3DA2AB2-B3AB-310B-D98A-A84E9D94B1FC}"/>
              </a:ext>
            </a:extLst>
          </p:cNvPr>
          <p:cNvSpPr txBox="1">
            <a:spLocks/>
          </p:cNvSpPr>
          <p:nvPr/>
        </p:nvSpPr>
        <p:spPr>
          <a:xfrm>
            <a:off x="471487" y="5272476"/>
            <a:ext cx="5915025" cy="211892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endParaRPr lang="en-GB" sz="1600" dirty="0"/>
          </a:p>
        </p:txBody>
      </p:sp>
      <p:pic>
        <p:nvPicPr>
          <p:cNvPr id="7" name="Picture 6">
            <a:extLst>
              <a:ext uri="{FF2B5EF4-FFF2-40B4-BE49-F238E27FC236}">
                <a16:creationId xmlns:a16="http://schemas.microsoft.com/office/drawing/2014/main" id="{4F2F81F2-F8F0-DA4A-FDB4-D0EF6A0FA750}"/>
              </a:ext>
            </a:extLst>
          </p:cNvPr>
          <p:cNvPicPr>
            <a:picLocks noChangeAspect="1"/>
          </p:cNvPicPr>
          <p:nvPr/>
        </p:nvPicPr>
        <p:blipFill>
          <a:blip r:embed="rId2"/>
          <a:stretch>
            <a:fillRect/>
          </a:stretch>
        </p:blipFill>
        <p:spPr>
          <a:xfrm>
            <a:off x="2205989" y="9687645"/>
            <a:ext cx="4091939" cy="1868387"/>
          </a:xfrm>
          <a:prstGeom prst="rect">
            <a:avLst/>
          </a:prstGeom>
          <a:effectLst>
            <a:outerShdw blurRad="63500" sx="102000" sy="102000" algn="ctr" rotWithShape="0">
              <a:prstClr val="black">
                <a:alpha val="40000"/>
              </a:prstClr>
            </a:outerShdw>
          </a:effectLst>
        </p:spPr>
      </p:pic>
      <p:sp>
        <p:nvSpPr>
          <p:cNvPr id="10" name="Content Placeholder 2">
            <a:extLst>
              <a:ext uri="{FF2B5EF4-FFF2-40B4-BE49-F238E27FC236}">
                <a16:creationId xmlns:a16="http://schemas.microsoft.com/office/drawing/2014/main" id="{7D655D7C-057B-2CA3-9A36-74D4804633C8}"/>
              </a:ext>
            </a:extLst>
          </p:cNvPr>
          <p:cNvSpPr txBox="1">
            <a:spLocks/>
          </p:cNvSpPr>
          <p:nvPr/>
        </p:nvSpPr>
        <p:spPr>
          <a:xfrm>
            <a:off x="471487" y="5204837"/>
            <a:ext cx="5915025" cy="2757640"/>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GB" sz="1700" b="0" i="0" dirty="0">
                <a:effectLst/>
                <a:latin typeface="Aptos Display" panose="020B0004020202020204" pitchFamily="34" charset="0"/>
              </a:rPr>
              <a:t>By adopting iMS Systems, you are embracing the future and positioning your organisation for success. This welcome pack provides just a glimpse of what you can expect from your iMS Systems adoption. As you embark on this journey, our team will be there to support you every step of the way, ensuring a smooth transition and helping you unlock the full potential of iMS Systems.</a:t>
            </a:r>
          </a:p>
          <a:p>
            <a:pPr marL="0" indent="0">
              <a:buFont typeface="Arial" panose="020B0604020202020204" pitchFamily="34" charset="0"/>
              <a:buNone/>
            </a:pPr>
            <a:r>
              <a:rPr lang="en-GB" sz="1700" b="0" i="0" dirty="0">
                <a:effectLst/>
                <a:latin typeface="Aptos Display" panose="020B0004020202020204" pitchFamily="34" charset="0"/>
              </a:rPr>
              <a:t>The unique value proposition of iMS Systems lies in its combination of compliance management, risk analysis, and policy generation in one platform. This holistic approach simplifies compliance, enhances efficiency, and reduces the risk of non-compliance.</a:t>
            </a:r>
            <a:endParaRPr lang="en-GB" sz="1700" dirty="0">
              <a:latin typeface="Aptos Display" panose="020B0004020202020204" pitchFamily="34" charset="0"/>
            </a:endParaRPr>
          </a:p>
        </p:txBody>
      </p:sp>
      <p:pic>
        <p:nvPicPr>
          <p:cNvPr id="16" name="Picture 15" descr="A screenshot of a computer&#10;&#10;Description automatically generated">
            <a:extLst>
              <a:ext uri="{FF2B5EF4-FFF2-40B4-BE49-F238E27FC236}">
                <a16:creationId xmlns:a16="http://schemas.microsoft.com/office/drawing/2014/main" id="{9EF26B83-A51C-8C6D-B94B-7056A26009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072" y="9096302"/>
            <a:ext cx="3076706" cy="1996450"/>
          </a:xfrm>
          <a:prstGeom prst="rect">
            <a:avLst/>
          </a:prstGeom>
          <a:effectLst>
            <a:outerShdw blurRad="63500" sx="102000" sy="102000" algn="ctr" rotWithShape="0">
              <a:prstClr val="black">
                <a:alpha val="40000"/>
              </a:prstClr>
            </a:outerShdw>
          </a:effectLst>
        </p:spPr>
      </p:pic>
      <p:pic>
        <p:nvPicPr>
          <p:cNvPr id="18" name="Picture 17" descr="A screenshot of a computer&#10;&#10;Description automatically generated">
            <a:extLst>
              <a:ext uri="{FF2B5EF4-FFF2-40B4-BE49-F238E27FC236}">
                <a16:creationId xmlns:a16="http://schemas.microsoft.com/office/drawing/2014/main" id="{F31A992E-531D-E929-A6BC-8E0B690610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5053" y="8015674"/>
            <a:ext cx="3352800" cy="1618774"/>
          </a:xfrm>
          <a:prstGeom prst="rect">
            <a:avLst/>
          </a:prstGeom>
          <a:effectLst>
            <a:outerShdw blurRad="63500" sx="102000" sy="102000" algn="ctr" rotWithShape="0">
              <a:prstClr val="black">
                <a:alpha val="40000"/>
              </a:prstClr>
            </a:outerShdw>
          </a:effectLst>
        </p:spPr>
      </p:pic>
      <p:pic>
        <p:nvPicPr>
          <p:cNvPr id="20" name="Picture 19" descr="A blue and black background&#10;&#10;Description automatically generated">
            <a:extLst>
              <a:ext uri="{FF2B5EF4-FFF2-40B4-BE49-F238E27FC236}">
                <a16:creationId xmlns:a16="http://schemas.microsoft.com/office/drawing/2014/main" id="{7BE37735-F6B8-9980-A2F4-4F2CB02D86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9792"/>
            <a:ext cx="6858000" cy="1186780"/>
          </a:xfrm>
          <a:prstGeom prst="rect">
            <a:avLst/>
          </a:prstGeom>
        </p:spPr>
      </p:pic>
      <p:pic>
        <p:nvPicPr>
          <p:cNvPr id="21" name="Picture 20" descr="A white letter on a black background&#10;&#10;Description automatically generated">
            <a:extLst>
              <a:ext uri="{FF2B5EF4-FFF2-40B4-BE49-F238E27FC236}">
                <a16:creationId xmlns:a16="http://schemas.microsoft.com/office/drawing/2014/main" id="{8983BE9B-BB98-D2F2-9BDA-D5C355C5E0D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45053" y="432161"/>
            <a:ext cx="2223545" cy="407614"/>
          </a:xfrm>
          <a:prstGeom prst="rect">
            <a:avLst/>
          </a:prstGeom>
          <a:effectLst>
            <a:innerShdw blurRad="63500" dist="50800" dir="13500000">
              <a:prstClr val="black">
                <a:alpha val="50000"/>
              </a:prstClr>
            </a:innerShdw>
          </a:effectLst>
        </p:spPr>
      </p:pic>
      <p:pic>
        <p:nvPicPr>
          <p:cNvPr id="6" name="Picture 5" descr="A black background with a black square&#10;&#10;Description automatically generated with medium confidence">
            <a:extLst>
              <a:ext uri="{FF2B5EF4-FFF2-40B4-BE49-F238E27FC236}">
                <a16:creationId xmlns:a16="http://schemas.microsoft.com/office/drawing/2014/main" id="{9C2165E9-060B-D2C0-DE17-1F8174F53A2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23023" y="11923349"/>
            <a:ext cx="954084" cy="221832"/>
          </a:xfrm>
          <a:prstGeom prst="rect">
            <a:avLst/>
          </a:prstGeom>
        </p:spPr>
      </p:pic>
    </p:spTree>
    <p:extLst>
      <p:ext uri="{BB962C8B-B14F-4D97-AF65-F5344CB8AC3E}">
        <p14:creationId xmlns:p14="http://schemas.microsoft.com/office/powerpoint/2010/main" val="888150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and black background&#10;&#10;Description automatically generated">
            <a:extLst>
              <a:ext uri="{FF2B5EF4-FFF2-40B4-BE49-F238E27FC236}">
                <a16:creationId xmlns:a16="http://schemas.microsoft.com/office/drawing/2014/main" id="{96A1A483-5109-1BE0-D30A-F9917181B9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12192000"/>
          </a:xfrm>
          <a:prstGeom prst="rect">
            <a:avLst/>
          </a:prstGeom>
        </p:spPr>
      </p:pic>
      <p:sp>
        <p:nvSpPr>
          <p:cNvPr id="2" name="Title 1">
            <a:extLst>
              <a:ext uri="{FF2B5EF4-FFF2-40B4-BE49-F238E27FC236}">
                <a16:creationId xmlns:a16="http://schemas.microsoft.com/office/drawing/2014/main" id="{FEFE841E-9B75-2A37-95B1-5F7BFF37CCF6}"/>
              </a:ext>
            </a:extLst>
          </p:cNvPr>
          <p:cNvSpPr>
            <a:spLocks noGrp="1"/>
          </p:cNvSpPr>
          <p:nvPr>
            <p:ph type="title"/>
          </p:nvPr>
        </p:nvSpPr>
        <p:spPr>
          <a:xfrm>
            <a:off x="471486" y="4917722"/>
            <a:ext cx="5915025" cy="2356556"/>
          </a:xfrm>
        </p:spPr>
        <p:txBody>
          <a:bodyPr>
            <a:normAutofit/>
          </a:bodyPr>
          <a:lstStyle/>
          <a:p>
            <a:pPr algn="ctr"/>
            <a:r>
              <a:rPr lang="en-GB" sz="2400" b="0" i="0" dirty="0">
                <a:solidFill>
                  <a:schemeClr val="bg1"/>
                </a:solidFill>
                <a:effectLst/>
                <a:latin typeface="Poppins" panose="00000500000000000000" pitchFamily="2" charset="0"/>
              </a:rPr>
              <a:t>Welcome to the future of </a:t>
            </a:r>
            <a:r>
              <a:rPr lang="en-GB" sz="2400" dirty="0">
                <a:solidFill>
                  <a:schemeClr val="bg1"/>
                </a:solidFill>
                <a:latin typeface="Poppins" panose="00000500000000000000" pitchFamily="2" charset="0"/>
              </a:rPr>
              <a:t>business operations</a:t>
            </a:r>
            <a:r>
              <a:rPr lang="en-GB" sz="2400" b="0" i="0" dirty="0">
                <a:solidFill>
                  <a:schemeClr val="bg1"/>
                </a:solidFill>
                <a:effectLst/>
                <a:latin typeface="Poppins" panose="00000500000000000000" pitchFamily="2" charset="0"/>
              </a:rPr>
              <a:t>!!</a:t>
            </a:r>
            <a:endParaRPr lang="en-GB" sz="2400" dirty="0">
              <a:solidFill>
                <a:schemeClr val="bg1"/>
              </a:solidFill>
            </a:endParaRPr>
          </a:p>
        </p:txBody>
      </p:sp>
      <p:sp>
        <p:nvSpPr>
          <p:cNvPr id="3" name="Content Placeholder 2">
            <a:extLst>
              <a:ext uri="{FF2B5EF4-FFF2-40B4-BE49-F238E27FC236}">
                <a16:creationId xmlns:a16="http://schemas.microsoft.com/office/drawing/2014/main" id="{4BF636B0-A1B5-B128-3CC5-ADDC0162FB85}"/>
              </a:ext>
            </a:extLst>
          </p:cNvPr>
          <p:cNvSpPr>
            <a:spLocks noGrp="1"/>
          </p:cNvSpPr>
          <p:nvPr>
            <p:ph idx="1"/>
          </p:nvPr>
        </p:nvSpPr>
        <p:spPr>
          <a:xfrm>
            <a:off x="587956" y="6816413"/>
            <a:ext cx="5915025" cy="1036884"/>
          </a:xfrm>
        </p:spPr>
        <p:txBody>
          <a:bodyPr>
            <a:normAutofit/>
          </a:bodyPr>
          <a:lstStyle/>
          <a:p>
            <a:pPr marL="0" indent="0" algn="ctr">
              <a:buNone/>
            </a:pPr>
            <a:r>
              <a:rPr lang="en-GB" sz="1050" b="0" i="0" dirty="0">
                <a:solidFill>
                  <a:schemeClr val="bg1"/>
                </a:solidFill>
                <a:effectLst/>
                <a:latin typeface="Poppins" panose="00000500000000000000" pitchFamily="2" charset="0"/>
              </a:rPr>
              <a:t>Get ready to experience improved efficiency, enhanced assurance, and a competitive advantage with iMS Systems. Let's embark on this exciting journey together!</a:t>
            </a:r>
            <a:endParaRPr lang="en-GB" sz="1050" dirty="0">
              <a:solidFill>
                <a:schemeClr val="bg1"/>
              </a:solidFill>
            </a:endParaRPr>
          </a:p>
        </p:txBody>
      </p:sp>
      <p:pic>
        <p:nvPicPr>
          <p:cNvPr id="9" name="Picture 8" descr="A white letter on a black background&#10;&#10;Description automatically generated">
            <a:extLst>
              <a:ext uri="{FF2B5EF4-FFF2-40B4-BE49-F238E27FC236}">
                <a16:creationId xmlns:a16="http://schemas.microsoft.com/office/drawing/2014/main" id="{081864AB-24AE-4675-E10B-7C79247EEA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225" y="5135880"/>
            <a:ext cx="2223545" cy="407614"/>
          </a:xfrm>
          <a:prstGeom prst="rect">
            <a:avLst/>
          </a:prstGeom>
          <a:effectLst>
            <a:innerShdw blurRad="63500" dist="50800" dir="13500000">
              <a:prstClr val="black">
                <a:alpha val="50000"/>
              </a:prstClr>
            </a:innerShdw>
          </a:effectLst>
        </p:spPr>
      </p:pic>
      <p:pic>
        <p:nvPicPr>
          <p:cNvPr id="21" name="Picture 20" descr="A black background with white letters&#10;&#10;Description automatically generated">
            <a:extLst>
              <a:ext uri="{FF2B5EF4-FFF2-40B4-BE49-F238E27FC236}">
                <a16:creationId xmlns:a16="http://schemas.microsoft.com/office/drawing/2014/main" id="{901694A5-66C0-C851-27FE-0BD64E969E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9600" y="11841480"/>
            <a:ext cx="1069339" cy="248630"/>
          </a:xfrm>
          <a:prstGeom prst="rect">
            <a:avLst/>
          </a:prstGeom>
          <a:effectLst>
            <a:innerShdw blurRad="63500" dist="50800" dir="13500000">
              <a:prstClr val="black">
                <a:alpha val="50000"/>
              </a:prstClr>
            </a:innerShdw>
          </a:effectLst>
        </p:spPr>
      </p:pic>
      <p:pic>
        <p:nvPicPr>
          <p:cNvPr id="29" name="Picture 28" descr="A white number on a black background&#10;&#10;Description automatically generated">
            <a:extLst>
              <a:ext uri="{FF2B5EF4-FFF2-40B4-BE49-F238E27FC236}">
                <a16:creationId xmlns:a16="http://schemas.microsoft.com/office/drawing/2014/main" id="{A51ED364-BD08-E199-1D4B-F83F5B4609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94327" y="11871960"/>
            <a:ext cx="1069339" cy="198887"/>
          </a:xfrm>
          <a:prstGeom prst="rect">
            <a:avLst/>
          </a:prstGeom>
          <a:effectLst>
            <a:innerShdw blurRad="63500" dist="50800" dir="13500000">
              <a:prstClr val="black">
                <a:alpha val="50000"/>
              </a:prstClr>
            </a:innerShdw>
          </a:effectLst>
        </p:spPr>
      </p:pic>
      <p:pic>
        <p:nvPicPr>
          <p:cNvPr id="35" name="Picture 34" descr="A white letter on a black background&#10;&#10;Description automatically generated">
            <a:extLst>
              <a:ext uri="{FF2B5EF4-FFF2-40B4-BE49-F238E27FC236}">
                <a16:creationId xmlns:a16="http://schemas.microsoft.com/office/drawing/2014/main" id="{3F9F6BA7-96F0-F81C-AA75-805A0418EF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1" y="11879318"/>
            <a:ext cx="1149875" cy="210792"/>
          </a:xfrm>
          <a:prstGeom prst="rect">
            <a:avLst/>
          </a:prstGeom>
          <a:effectLst>
            <a:innerShdw blurRad="63500" dist="50800" dir="13500000">
              <a:prstClr val="black">
                <a:alpha val="50000"/>
              </a:prstClr>
            </a:innerShdw>
          </a:effectLst>
        </p:spPr>
      </p:pic>
    </p:spTree>
    <p:extLst>
      <p:ext uri="{BB962C8B-B14F-4D97-AF65-F5344CB8AC3E}">
        <p14:creationId xmlns:p14="http://schemas.microsoft.com/office/powerpoint/2010/main" val="27195778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727</Words>
  <Application>Microsoft Office PowerPoint</Application>
  <PresentationFormat>Widescreen</PresentationFormat>
  <Paragraphs>28</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 Display</vt:lpstr>
      <vt:lpstr>Arial</vt:lpstr>
      <vt:lpstr>Calibri</vt:lpstr>
      <vt:lpstr>Calibri Light</vt:lpstr>
      <vt:lpstr>Poppins</vt:lpstr>
      <vt:lpstr>Office Theme</vt:lpstr>
      <vt:lpstr>PowerPoint Presentation</vt:lpstr>
      <vt:lpstr>Streamline Compliance Management </vt:lpstr>
      <vt:lpstr>Document Management: Consolidate, Centralise, and Share with Confidence</vt:lpstr>
      <vt:lpstr>Comprehensive Solution for  Future-Proofing </vt:lpstr>
      <vt:lpstr>Prepare for External Audits with Ease</vt:lpstr>
      <vt:lpstr>Welcome to the future of business operations!!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Embrace the Future with iMS Systems </dc:title>
  <dc:creator>Nuraz Zamal</dc:creator>
  <cp:lastModifiedBy>Nuraz Zamal</cp:lastModifiedBy>
  <cp:revision>10</cp:revision>
  <dcterms:created xsi:type="dcterms:W3CDTF">2024-01-05T23:07:26Z</dcterms:created>
  <dcterms:modified xsi:type="dcterms:W3CDTF">2024-01-07T17:49:45Z</dcterms:modified>
</cp:coreProperties>
</file>